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y="6858000" cx="12192000"/>
  <p:notesSz cx="6858000" cy="9144000"/>
  <p:embeddedFontLst>
    <p:embeddedFont>
      <p:font typeface="Plus Jakarta Sans"/>
      <p:regular r:id="rId14"/>
      <p:bold r:id="rId15"/>
      <p:italic r:id="rId16"/>
      <p:boldItalic r:id="rId1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27BE0501-9A28-48BA-BE31-D5FC81016128}">
  <a:tblStyle styleId="{27BE0501-9A28-48BA-BE31-D5FC81016128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font" Target="fonts/PlusJakartaSans-bold.fntdata"/><Relationship Id="rId14" Type="http://schemas.openxmlformats.org/officeDocument/2006/relationships/font" Target="fonts/PlusJakartaSans-regular.fntdata"/><Relationship Id="rId17" Type="http://schemas.openxmlformats.org/officeDocument/2006/relationships/font" Target="fonts/PlusJakartaSans-boldItalic.fntdata"/><Relationship Id="rId16" Type="http://schemas.openxmlformats.org/officeDocument/2006/relationships/font" Target="fonts/PlusJakartaSans-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Relationship Id="rId4" Type="http://schemas.openxmlformats.org/officeDocument/2006/relationships/image" Target="../media/image2.png"/><Relationship Id="rId5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/>
          <p:nvPr/>
        </p:nvSpPr>
        <p:spPr>
          <a:xfrm>
            <a:off x="609600" y="4436715"/>
            <a:ext cx="10972800" cy="619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3"/>
          <p:cNvSpPr/>
          <p:nvPr/>
        </p:nvSpPr>
        <p:spPr>
          <a:xfrm>
            <a:off x="609600" y="4436715"/>
            <a:ext cx="1097280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3"/>
          <p:cNvSpPr/>
          <p:nvPr/>
        </p:nvSpPr>
        <p:spPr>
          <a:xfrm>
            <a:off x="4648200" y="4712940"/>
            <a:ext cx="9525" cy="3048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13"/>
          <p:cNvSpPr txBox="1"/>
          <p:nvPr/>
        </p:nvSpPr>
        <p:spPr>
          <a:xfrm>
            <a:off x="609600" y="1802159"/>
            <a:ext cx="115824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38BDF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DOCUMENTAZIONE DI PROGETTO • PROJECT WORK (40 ORE)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609600" y="2154584"/>
            <a:ext cx="9101137" cy="11391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497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900" u="none" cap="none" strike="noStrik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Infrastruttura Web Containerizzata &amp; Autonoma</a:t>
            </a:r>
            <a:endParaRPr/>
          </a:p>
        </p:txBody>
      </p:sp>
      <p:sp>
        <p:nvSpPr>
          <p:cNvPr id="89" name="Google Shape;89;p13"/>
          <p:cNvSpPr txBox="1"/>
          <p:nvPr/>
        </p:nvSpPr>
        <p:spPr>
          <a:xfrm>
            <a:off x="609600" y="3484215"/>
            <a:ext cx="77152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Infrastruttura web ad alte prestazioni, totalmente isolata con Docker, integrata con Reverse Proxy Nginx, DNS BIND9 dedicato e persistenza dati su MariaDB.</a:t>
            </a:r>
            <a:endParaRPr/>
          </a:p>
        </p:txBody>
      </p:sp>
      <p:sp>
        <p:nvSpPr>
          <p:cNvPr id="90" name="Google Shape;90;p13"/>
          <p:cNvSpPr txBox="1"/>
          <p:nvPr/>
        </p:nvSpPr>
        <p:spPr>
          <a:xfrm>
            <a:off x="609600" y="4674840"/>
            <a:ext cx="4667250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TEAM DI SVILUPPO</a:t>
            </a:r>
            <a:endParaRPr/>
          </a:p>
        </p:txBody>
      </p:sp>
      <p:sp>
        <p:nvSpPr>
          <p:cNvPr id="91" name="Google Shape;91;p13"/>
          <p:cNvSpPr txBox="1"/>
          <p:nvPr/>
        </p:nvSpPr>
        <p:spPr>
          <a:xfrm>
            <a:off x="609600" y="4855815"/>
            <a:ext cx="466725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1F5F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M. Scorteccia • G. Mazzoni • R. Camilli • A. Feliziani</a:t>
            </a:r>
            <a:endParaRPr/>
          </a:p>
        </p:txBody>
      </p:sp>
      <p:sp>
        <p:nvSpPr>
          <p:cNvPr id="92" name="Google Shape;92;p13"/>
          <p:cNvSpPr txBox="1"/>
          <p:nvPr/>
        </p:nvSpPr>
        <p:spPr>
          <a:xfrm>
            <a:off x="4962525" y="4674840"/>
            <a:ext cx="1619250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TEMPO TOTALE</a:t>
            </a:r>
            <a:endParaRPr/>
          </a:p>
        </p:txBody>
      </p:sp>
      <p:sp>
        <p:nvSpPr>
          <p:cNvPr id="93" name="Google Shape;93;p13"/>
          <p:cNvSpPr txBox="1"/>
          <p:nvPr/>
        </p:nvSpPr>
        <p:spPr>
          <a:xfrm>
            <a:off x="4962525" y="4855815"/>
            <a:ext cx="161925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38BDF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40 Ore Operative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4"/>
          <p:cNvSpPr/>
          <p:nvPr/>
        </p:nvSpPr>
        <p:spPr>
          <a:xfrm>
            <a:off x="476100" y="1844926"/>
            <a:ext cx="2571900" cy="1347600"/>
          </a:xfrm>
          <a:prstGeom prst="roundRect">
            <a:avLst>
              <a:gd fmla="val 7407" name="adj"/>
            </a:avLst>
          </a:prstGeom>
          <a:solidFill>
            <a:srgbClr val="F8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14"/>
          <p:cNvSpPr/>
          <p:nvPr/>
        </p:nvSpPr>
        <p:spPr>
          <a:xfrm>
            <a:off x="3379650" y="1830626"/>
            <a:ext cx="2571900" cy="1362000"/>
          </a:xfrm>
          <a:prstGeom prst="roundRect">
            <a:avLst>
              <a:gd fmla="val 8391" name="adj"/>
            </a:avLst>
          </a:prstGeom>
          <a:solidFill>
            <a:srgbClr val="F8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14"/>
          <p:cNvSpPr/>
          <p:nvPr/>
        </p:nvSpPr>
        <p:spPr>
          <a:xfrm>
            <a:off x="6104700" y="1805207"/>
            <a:ext cx="2571900" cy="1362000"/>
          </a:xfrm>
          <a:prstGeom prst="roundRect">
            <a:avLst>
              <a:gd fmla="val 8391" name="adj"/>
            </a:avLst>
          </a:prstGeom>
          <a:solidFill>
            <a:srgbClr val="F8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14"/>
          <p:cNvSpPr/>
          <p:nvPr/>
        </p:nvSpPr>
        <p:spPr>
          <a:xfrm>
            <a:off x="9010800" y="1805169"/>
            <a:ext cx="2571900" cy="1362000"/>
          </a:xfrm>
          <a:prstGeom prst="roundRect">
            <a:avLst>
              <a:gd fmla="val 8391" name="adj"/>
            </a:avLst>
          </a:prstGeom>
          <a:solidFill>
            <a:srgbClr val="F8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14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284C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02 • STRATEGIA</a:t>
            </a:r>
            <a:endParaRPr/>
          </a:p>
        </p:txBody>
      </p:sp>
      <p:sp>
        <p:nvSpPr>
          <p:cNvPr id="103" name="Google Shape;103;p14"/>
          <p:cNvSpPr txBox="1"/>
          <p:nvPr/>
        </p:nvSpPr>
        <p:spPr>
          <a:xfrm>
            <a:off x="609600" y="704850"/>
            <a:ext cx="115824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Pilastri dell'Infrastruttura</a:t>
            </a:r>
            <a:endParaRPr/>
          </a:p>
        </p:txBody>
      </p:sp>
      <p:sp>
        <p:nvSpPr>
          <p:cNvPr id="104" name="Google Shape;104;p14"/>
          <p:cNvSpPr txBox="1"/>
          <p:nvPr/>
        </p:nvSpPr>
        <p:spPr>
          <a:xfrm>
            <a:off x="657125" y="2159393"/>
            <a:ext cx="27753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Single Point Isolation</a:t>
            </a:r>
            <a:endParaRPr/>
          </a:p>
        </p:txBody>
      </p:sp>
      <p:sp>
        <p:nvSpPr>
          <p:cNvPr id="105" name="Google Shape;105;p14"/>
          <p:cNvSpPr txBox="1"/>
          <p:nvPr/>
        </p:nvSpPr>
        <p:spPr>
          <a:xfrm>
            <a:off x="657150" y="2574603"/>
            <a:ext cx="2209800" cy="3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Disaccoppiamento dei container per azzerare i conflitti.</a:t>
            </a:r>
            <a:endParaRPr/>
          </a:p>
        </p:txBody>
      </p:sp>
      <p:sp>
        <p:nvSpPr>
          <p:cNvPr id="106" name="Google Shape;106;p14"/>
          <p:cNvSpPr txBox="1"/>
          <p:nvPr/>
        </p:nvSpPr>
        <p:spPr>
          <a:xfrm>
            <a:off x="3814200" y="2163730"/>
            <a:ext cx="27753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Container Integrali</a:t>
            </a:r>
            <a:endParaRPr/>
          </a:p>
        </p:txBody>
      </p:sp>
      <p:sp>
        <p:nvSpPr>
          <p:cNvPr id="107" name="Google Shape;107;p14"/>
          <p:cNvSpPr txBox="1"/>
          <p:nvPr/>
        </p:nvSpPr>
        <p:spPr>
          <a:xfrm>
            <a:off x="3560700" y="2563054"/>
            <a:ext cx="2209800" cy="3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Ambienti minimi riproducibili via Docker Compose.</a:t>
            </a:r>
            <a:endParaRPr/>
          </a:p>
        </p:txBody>
      </p:sp>
      <p:sp>
        <p:nvSpPr>
          <p:cNvPr id="108" name="Google Shape;108;p14"/>
          <p:cNvSpPr txBox="1"/>
          <p:nvPr/>
        </p:nvSpPr>
        <p:spPr>
          <a:xfrm>
            <a:off x="6368125" y="2187987"/>
            <a:ext cx="27753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Networking Proxy</a:t>
            </a:r>
            <a:endParaRPr/>
          </a:p>
        </p:txBody>
      </p:sp>
      <p:sp>
        <p:nvSpPr>
          <p:cNvPr id="109" name="Google Shape;109;p14"/>
          <p:cNvSpPr txBox="1"/>
          <p:nvPr/>
        </p:nvSpPr>
        <p:spPr>
          <a:xfrm>
            <a:off x="6254875" y="2608188"/>
            <a:ext cx="2209800" cy="3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Routing sicuro Nginx combinato con Bind9 locale.</a:t>
            </a:r>
            <a:endParaRPr/>
          </a:p>
        </p:txBody>
      </p:sp>
      <p:sp>
        <p:nvSpPr>
          <p:cNvPr id="110" name="Google Shape;110;p14"/>
          <p:cNvSpPr txBox="1"/>
          <p:nvPr/>
        </p:nvSpPr>
        <p:spPr>
          <a:xfrm>
            <a:off x="9143425" y="2158143"/>
            <a:ext cx="27753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Dashboard Reattiva</a:t>
            </a:r>
            <a:endParaRPr/>
          </a:p>
        </p:txBody>
      </p:sp>
      <p:sp>
        <p:nvSpPr>
          <p:cNvPr id="111" name="Google Shape;111;p14"/>
          <p:cNvSpPr txBox="1"/>
          <p:nvPr/>
        </p:nvSpPr>
        <p:spPr>
          <a:xfrm>
            <a:off x="9097700" y="2553082"/>
            <a:ext cx="2209800" cy="3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Interfaccia PHP e HTML per consultazione dati.</a:t>
            </a:r>
            <a:endParaRPr/>
          </a:p>
        </p:txBody>
      </p:sp>
      <p:sp>
        <p:nvSpPr>
          <p:cNvPr id="112" name="Google Shape;112;p14"/>
          <p:cNvSpPr txBox="1"/>
          <p:nvPr/>
        </p:nvSpPr>
        <p:spPr>
          <a:xfrm>
            <a:off x="657150" y="3397775"/>
            <a:ext cx="11582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Isolamento dei Microservizi &amp; Resilienza</a:t>
            </a:r>
            <a:endParaRPr/>
          </a:p>
        </p:txBody>
      </p:sp>
      <p:sp>
        <p:nvSpPr>
          <p:cNvPr id="113" name="Google Shape;113;p14"/>
          <p:cNvSpPr/>
          <p:nvPr/>
        </p:nvSpPr>
        <p:spPr>
          <a:xfrm>
            <a:off x="657150" y="4624391"/>
            <a:ext cx="3505200" cy="1712400"/>
          </a:xfrm>
          <a:prstGeom prst="roundRect">
            <a:avLst>
              <a:gd fmla="val 6674" name="adj"/>
            </a:avLst>
          </a:prstGeom>
          <a:solidFill>
            <a:srgbClr val="F8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14"/>
          <p:cNvSpPr/>
          <p:nvPr/>
        </p:nvSpPr>
        <p:spPr>
          <a:xfrm>
            <a:off x="4287550" y="4624391"/>
            <a:ext cx="3505200" cy="1712400"/>
          </a:xfrm>
          <a:prstGeom prst="roundRect">
            <a:avLst>
              <a:gd fmla="val 6674" name="adj"/>
            </a:avLst>
          </a:prstGeom>
          <a:solidFill>
            <a:srgbClr val="F8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14"/>
          <p:cNvSpPr/>
          <p:nvPr/>
        </p:nvSpPr>
        <p:spPr>
          <a:xfrm>
            <a:off x="8301600" y="4624391"/>
            <a:ext cx="3505200" cy="1712400"/>
          </a:xfrm>
          <a:prstGeom prst="roundRect">
            <a:avLst>
              <a:gd fmla="val 6674" name="adj"/>
            </a:avLst>
          </a:prstGeom>
          <a:solidFill>
            <a:srgbClr val="F8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14"/>
          <p:cNvSpPr txBox="1"/>
          <p:nvPr/>
        </p:nvSpPr>
        <p:spPr>
          <a:xfrm>
            <a:off x="947800" y="5581891"/>
            <a:ext cx="3067200" cy="44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Ambienti Docker autonomi e indipendenti per la massima stabilità.</a:t>
            </a:r>
            <a:endParaRPr/>
          </a:p>
        </p:txBody>
      </p:sp>
      <p:sp>
        <p:nvSpPr>
          <p:cNvPr id="117" name="Google Shape;117;p14"/>
          <p:cNvSpPr txBox="1"/>
          <p:nvPr/>
        </p:nvSpPr>
        <p:spPr>
          <a:xfrm>
            <a:off x="4562400" y="5581891"/>
            <a:ext cx="3067200" cy="44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Risoluzione nomi interna senza esposizione diretta dei nodi.</a:t>
            </a:r>
            <a:endParaRPr/>
          </a:p>
        </p:txBody>
      </p:sp>
      <p:sp>
        <p:nvSpPr>
          <p:cNvPr id="118" name="Google Shape;118;p14"/>
          <p:cNvSpPr txBox="1"/>
          <p:nvPr/>
        </p:nvSpPr>
        <p:spPr>
          <a:xfrm>
            <a:off x="8520600" y="5581891"/>
            <a:ext cx="3067200" cy="44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Protezione e conservazione transazionale tramite volumi Docker.</a:t>
            </a:r>
            <a:endParaRPr/>
          </a:p>
        </p:txBody>
      </p:sp>
      <p:sp>
        <p:nvSpPr>
          <p:cNvPr id="119" name="Google Shape;119;p14"/>
          <p:cNvSpPr txBox="1"/>
          <p:nvPr/>
        </p:nvSpPr>
        <p:spPr>
          <a:xfrm>
            <a:off x="804800" y="4933941"/>
            <a:ext cx="39006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Isolamento Microservizi</a:t>
            </a:r>
            <a:endParaRPr/>
          </a:p>
        </p:txBody>
      </p:sp>
      <p:sp>
        <p:nvSpPr>
          <p:cNvPr id="120" name="Google Shape;120;p14"/>
          <p:cNvSpPr txBox="1"/>
          <p:nvPr/>
        </p:nvSpPr>
        <p:spPr>
          <a:xfrm>
            <a:off x="4498050" y="4933941"/>
            <a:ext cx="39006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Networking Dedicato</a:t>
            </a:r>
            <a:endParaRPr/>
          </a:p>
        </p:txBody>
      </p:sp>
      <p:sp>
        <p:nvSpPr>
          <p:cNvPr id="121" name="Google Shape;121;p14"/>
          <p:cNvSpPr txBox="1"/>
          <p:nvPr/>
        </p:nvSpPr>
        <p:spPr>
          <a:xfrm>
            <a:off x="8372700" y="4933941"/>
            <a:ext cx="38481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Persistenza Dati</a:t>
            </a:r>
            <a:endParaRPr/>
          </a:p>
        </p:txBody>
      </p:sp>
      <p:pic>
        <p:nvPicPr>
          <p:cNvPr descr="image.png" id="122" name="Google Shape;122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074850" y="4916091"/>
            <a:ext cx="304800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3" name="Google Shape;123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589500" y="4916091"/>
            <a:ext cx="333375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4" name="Google Shape;124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981525" y="4916091"/>
            <a:ext cx="238125" cy="266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9" name="Google Shape;129;p15"/>
          <p:cNvGraphicFramePr/>
          <p:nvPr/>
        </p:nvGraphicFramePr>
        <p:xfrm>
          <a:off x="609600" y="24479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{27BE0501-9A28-48BA-BE31-D5FC81016128}</a:tableStyleId>
              </a:tblPr>
              <a:tblGrid>
                <a:gridCol w="2484525"/>
                <a:gridCol w="2471150"/>
                <a:gridCol w="6017125"/>
              </a:tblGrid>
              <a:tr h="4699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LIVELLO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0284C7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TECNOLOGIA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475569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RUOLO E FUNZIONE PRINCIPALE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699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Risoluzione Nomi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0284C7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DNS (BIND9)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475569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Risoluzione URL di progetto verso l'IP del Proxy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699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Ingresso &amp; Gateway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0284C7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Proxy (Nginx)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475569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Reverse proxy e instradamento flussi HTTP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699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Livello Applicativo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0284C7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HTML / PHP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475569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Elaborazione e visualizzazione dinamica dati aziendali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699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Persistenza Dati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0284C7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MariaDB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475569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Storage relazionale isolato con volumi dedicati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699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Orchestrazione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0284C7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Docker &amp; Compose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475569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Isolamento microservizi, volumi e virtual network bridge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0" name="Google Shape;130;p15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284C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03 • ARCHITETTURA</a:t>
            </a:r>
            <a:endParaRPr/>
          </a:p>
        </p:txBody>
      </p:sp>
      <p:sp>
        <p:nvSpPr>
          <p:cNvPr id="131" name="Google Shape;131;p15"/>
          <p:cNvSpPr txBox="1"/>
          <p:nvPr/>
        </p:nvSpPr>
        <p:spPr>
          <a:xfrm>
            <a:off x="609600" y="704850"/>
            <a:ext cx="115824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Stack Tecnologico e Livelli di Rete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6"/>
          <p:cNvSpPr/>
          <p:nvPr/>
        </p:nvSpPr>
        <p:spPr>
          <a:xfrm>
            <a:off x="609600" y="3186112"/>
            <a:ext cx="3505200" cy="1419225"/>
          </a:xfrm>
          <a:prstGeom prst="roundRect">
            <a:avLst>
              <a:gd fmla="val 8053" name="adj"/>
            </a:avLst>
          </a:prstGeom>
          <a:solidFill>
            <a:srgbClr val="F8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16"/>
          <p:cNvSpPr/>
          <p:nvPr/>
        </p:nvSpPr>
        <p:spPr>
          <a:xfrm>
            <a:off x="4343400" y="3186112"/>
            <a:ext cx="3505200" cy="1419225"/>
          </a:xfrm>
          <a:prstGeom prst="roundRect">
            <a:avLst>
              <a:gd fmla="val 8053" name="adj"/>
            </a:avLst>
          </a:prstGeom>
          <a:solidFill>
            <a:srgbClr val="F8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16"/>
          <p:cNvSpPr/>
          <p:nvPr/>
        </p:nvSpPr>
        <p:spPr>
          <a:xfrm>
            <a:off x="8077200" y="3186112"/>
            <a:ext cx="3505200" cy="1419225"/>
          </a:xfrm>
          <a:prstGeom prst="roundRect">
            <a:avLst>
              <a:gd fmla="val 8053" name="adj"/>
            </a:avLst>
          </a:prstGeom>
          <a:solidFill>
            <a:srgbClr val="F8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16"/>
          <p:cNvSpPr txBox="1"/>
          <p:nvPr/>
        </p:nvSpPr>
        <p:spPr>
          <a:xfrm>
            <a:off x="609600" y="457200"/>
            <a:ext cx="115824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284C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0</a:t>
            </a:r>
            <a:r>
              <a:rPr b="1" lang="en-US" sz="1050">
                <a:solidFill>
                  <a:srgbClr val="0284C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4</a:t>
            </a:r>
            <a:r>
              <a:rPr b="1" i="0" lang="en-US" sz="1050" u="none" cap="none" strike="noStrike">
                <a:solidFill>
                  <a:srgbClr val="0284C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• PERSISTENZA DATI</a:t>
            </a:r>
            <a:endParaRPr/>
          </a:p>
        </p:txBody>
      </p:sp>
      <p:sp>
        <p:nvSpPr>
          <p:cNvPr id="140" name="Google Shape;140;p16"/>
          <p:cNvSpPr txBox="1"/>
          <p:nvPr/>
        </p:nvSpPr>
        <p:spPr>
          <a:xfrm>
            <a:off x="609600" y="704850"/>
            <a:ext cx="115824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Storage Relazionale e Integrità</a:t>
            </a:r>
            <a:endParaRPr/>
          </a:p>
        </p:txBody>
      </p:sp>
      <p:sp>
        <p:nvSpPr>
          <p:cNvPr id="141" name="Google Shape;141;p16"/>
          <p:cNvSpPr txBox="1"/>
          <p:nvPr/>
        </p:nvSpPr>
        <p:spPr>
          <a:xfrm>
            <a:off x="914400" y="3490912"/>
            <a:ext cx="3800475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Database MariaDB Isolato</a:t>
            </a:r>
            <a:endParaRPr/>
          </a:p>
        </p:txBody>
      </p:sp>
      <p:sp>
        <p:nvSpPr>
          <p:cNvPr id="142" name="Google Shape;142;p16"/>
          <p:cNvSpPr txBox="1"/>
          <p:nvPr/>
        </p:nvSpPr>
        <p:spPr>
          <a:xfrm>
            <a:off x="914400" y="3843337"/>
            <a:ext cx="29908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Istanza dedicata per la gestione delle tabelle aziendali.</a:t>
            </a:r>
            <a:endParaRPr/>
          </a:p>
        </p:txBody>
      </p:sp>
      <p:sp>
        <p:nvSpPr>
          <p:cNvPr id="143" name="Google Shape;143;p16"/>
          <p:cNvSpPr txBox="1"/>
          <p:nvPr/>
        </p:nvSpPr>
        <p:spPr>
          <a:xfrm>
            <a:off x="4648200" y="3490912"/>
            <a:ext cx="3800475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Volumi Docker Persistenti</a:t>
            </a:r>
            <a:endParaRPr/>
          </a:p>
        </p:txBody>
      </p:sp>
      <p:sp>
        <p:nvSpPr>
          <p:cNvPr id="144" name="Google Shape;144;p16"/>
          <p:cNvSpPr txBox="1"/>
          <p:nvPr/>
        </p:nvSpPr>
        <p:spPr>
          <a:xfrm>
            <a:off x="4648200" y="3843337"/>
            <a:ext cx="29908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Protezione da perdita dati in caso di riavvio del container.</a:t>
            </a:r>
            <a:endParaRPr/>
          </a:p>
        </p:txBody>
      </p:sp>
      <p:sp>
        <p:nvSpPr>
          <p:cNvPr id="145" name="Google Shape;145;p16"/>
          <p:cNvSpPr txBox="1"/>
          <p:nvPr/>
        </p:nvSpPr>
        <p:spPr>
          <a:xfrm>
            <a:off x="8382000" y="3490912"/>
            <a:ext cx="3800475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Integrità Transazionale</a:t>
            </a:r>
            <a:endParaRPr/>
          </a:p>
        </p:txBody>
      </p:sp>
      <p:sp>
        <p:nvSpPr>
          <p:cNvPr id="146" name="Google Shape;146;p16"/>
          <p:cNvSpPr txBox="1"/>
          <p:nvPr/>
        </p:nvSpPr>
        <p:spPr>
          <a:xfrm>
            <a:off x="8382000" y="3843337"/>
            <a:ext cx="29908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Connessioni sicure dal backend PHP all'istanza DB.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7"/>
          <p:cNvSpPr/>
          <p:nvPr/>
        </p:nvSpPr>
        <p:spPr>
          <a:xfrm>
            <a:off x="609600" y="3228975"/>
            <a:ext cx="2571750" cy="1333500"/>
          </a:xfrm>
          <a:prstGeom prst="roundRect">
            <a:avLst>
              <a:gd fmla="val 8571" name="adj"/>
            </a:avLst>
          </a:prstGeom>
          <a:solidFill>
            <a:srgbClr val="F8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17"/>
          <p:cNvSpPr/>
          <p:nvPr/>
        </p:nvSpPr>
        <p:spPr>
          <a:xfrm>
            <a:off x="3409950" y="3228975"/>
            <a:ext cx="2571750" cy="1333500"/>
          </a:xfrm>
          <a:prstGeom prst="roundRect">
            <a:avLst>
              <a:gd fmla="val 8571" name="adj"/>
            </a:avLst>
          </a:prstGeom>
          <a:solidFill>
            <a:srgbClr val="F8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17"/>
          <p:cNvSpPr/>
          <p:nvPr/>
        </p:nvSpPr>
        <p:spPr>
          <a:xfrm>
            <a:off x="6210300" y="3228975"/>
            <a:ext cx="2571750" cy="1333500"/>
          </a:xfrm>
          <a:prstGeom prst="roundRect">
            <a:avLst>
              <a:gd fmla="val 8571" name="adj"/>
            </a:avLst>
          </a:prstGeom>
          <a:solidFill>
            <a:srgbClr val="F8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17"/>
          <p:cNvSpPr/>
          <p:nvPr/>
        </p:nvSpPr>
        <p:spPr>
          <a:xfrm>
            <a:off x="9010650" y="3228975"/>
            <a:ext cx="2571750" cy="1333500"/>
          </a:xfrm>
          <a:prstGeom prst="roundRect">
            <a:avLst>
              <a:gd fmla="val 8571" name="adj"/>
            </a:avLst>
          </a:prstGeom>
          <a:solidFill>
            <a:srgbClr val="F8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17"/>
          <p:cNvSpPr txBox="1"/>
          <p:nvPr/>
        </p:nvSpPr>
        <p:spPr>
          <a:xfrm>
            <a:off x="609600" y="457200"/>
            <a:ext cx="115824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284C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0</a:t>
            </a:r>
            <a:r>
              <a:rPr b="1" lang="en-US" sz="1050">
                <a:solidFill>
                  <a:srgbClr val="0284C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5</a:t>
            </a:r>
            <a:r>
              <a:rPr b="1" i="0" lang="en-US" sz="1050" u="none" cap="none" strike="noStrike">
                <a:solidFill>
                  <a:srgbClr val="0284C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• ORGANIZZAZIONE</a:t>
            </a:r>
            <a:endParaRPr/>
          </a:p>
        </p:txBody>
      </p:sp>
      <p:sp>
        <p:nvSpPr>
          <p:cNvPr id="156" name="Google Shape;156;p17"/>
          <p:cNvSpPr txBox="1"/>
          <p:nvPr/>
        </p:nvSpPr>
        <p:spPr>
          <a:xfrm>
            <a:off x="609600" y="704850"/>
            <a:ext cx="115824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Ruoli del Team di Sviluppo</a:t>
            </a:r>
            <a:endParaRPr/>
          </a:p>
        </p:txBody>
      </p:sp>
      <p:sp>
        <p:nvSpPr>
          <p:cNvPr id="157" name="Google Shape;157;p17"/>
          <p:cNvSpPr txBox="1"/>
          <p:nvPr/>
        </p:nvSpPr>
        <p:spPr>
          <a:xfrm>
            <a:off x="838200" y="3457575"/>
            <a:ext cx="2643187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0284C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DOCKER &amp; DEPLOY</a:t>
            </a:r>
            <a:endParaRPr/>
          </a:p>
        </p:txBody>
      </p:sp>
      <p:sp>
        <p:nvSpPr>
          <p:cNvPr id="158" name="Google Shape;158;p17"/>
          <p:cNvSpPr txBox="1"/>
          <p:nvPr/>
        </p:nvSpPr>
        <p:spPr>
          <a:xfrm>
            <a:off x="838200" y="3676650"/>
            <a:ext cx="2775346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G. Mazzoni</a:t>
            </a:r>
            <a:endParaRPr/>
          </a:p>
        </p:txBody>
      </p:sp>
      <p:sp>
        <p:nvSpPr>
          <p:cNvPr id="159" name="Google Shape;159;p17"/>
          <p:cNvSpPr txBox="1"/>
          <p:nvPr/>
        </p:nvSpPr>
        <p:spPr>
          <a:xfrm>
            <a:off x="838200" y="3990975"/>
            <a:ext cx="22098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Docker Compose, Dockerfile e configurazione volumi.</a:t>
            </a:r>
            <a:endParaRPr/>
          </a:p>
        </p:txBody>
      </p:sp>
      <p:sp>
        <p:nvSpPr>
          <p:cNvPr id="160" name="Google Shape;160;p17"/>
          <p:cNvSpPr txBox="1"/>
          <p:nvPr/>
        </p:nvSpPr>
        <p:spPr>
          <a:xfrm>
            <a:off x="3638550" y="3457575"/>
            <a:ext cx="2643187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0284C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NETWORKING</a:t>
            </a:r>
            <a:endParaRPr/>
          </a:p>
        </p:txBody>
      </p:sp>
      <p:sp>
        <p:nvSpPr>
          <p:cNvPr id="161" name="Google Shape;161;p17"/>
          <p:cNvSpPr txBox="1"/>
          <p:nvPr/>
        </p:nvSpPr>
        <p:spPr>
          <a:xfrm>
            <a:off x="3638550" y="3676650"/>
            <a:ext cx="2775346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M. Scorteccia</a:t>
            </a:r>
            <a:endParaRPr/>
          </a:p>
        </p:txBody>
      </p:sp>
      <p:sp>
        <p:nvSpPr>
          <p:cNvPr id="162" name="Google Shape;162;p17"/>
          <p:cNvSpPr txBox="1"/>
          <p:nvPr/>
        </p:nvSpPr>
        <p:spPr>
          <a:xfrm>
            <a:off x="3638550" y="3990975"/>
            <a:ext cx="22098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Server DNS BIND9, Reverse Proxy Nginx e routing.</a:t>
            </a:r>
            <a:endParaRPr/>
          </a:p>
        </p:txBody>
      </p:sp>
      <p:sp>
        <p:nvSpPr>
          <p:cNvPr id="163" name="Google Shape;163;p17"/>
          <p:cNvSpPr txBox="1"/>
          <p:nvPr/>
        </p:nvSpPr>
        <p:spPr>
          <a:xfrm>
            <a:off x="6438900" y="3457575"/>
            <a:ext cx="2643187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0284C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DATABASE</a:t>
            </a:r>
            <a:endParaRPr/>
          </a:p>
        </p:txBody>
      </p:sp>
      <p:sp>
        <p:nvSpPr>
          <p:cNvPr id="164" name="Google Shape;164;p17"/>
          <p:cNvSpPr txBox="1"/>
          <p:nvPr/>
        </p:nvSpPr>
        <p:spPr>
          <a:xfrm>
            <a:off x="6438900" y="3676650"/>
            <a:ext cx="2775346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A. Feliziani</a:t>
            </a:r>
            <a:endParaRPr/>
          </a:p>
        </p:txBody>
      </p:sp>
      <p:sp>
        <p:nvSpPr>
          <p:cNvPr id="165" name="Google Shape;165;p17"/>
          <p:cNvSpPr txBox="1"/>
          <p:nvPr/>
        </p:nvSpPr>
        <p:spPr>
          <a:xfrm>
            <a:off x="6438900" y="3990975"/>
            <a:ext cx="22098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Schema MariaDB, persistenza dati e tabelle.</a:t>
            </a:r>
            <a:endParaRPr/>
          </a:p>
        </p:txBody>
      </p:sp>
      <p:sp>
        <p:nvSpPr>
          <p:cNvPr id="166" name="Google Shape;166;p17"/>
          <p:cNvSpPr txBox="1"/>
          <p:nvPr/>
        </p:nvSpPr>
        <p:spPr>
          <a:xfrm>
            <a:off x="9239250" y="3457575"/>
            <a:ext cx="2643187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0284C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SVILUPPO WEB</a:t>
            </a:r>
            <a:endParaRPr/>
          </a:p>
        </p:txBody>
      </p:sp>
      <p:sp>
        <p:nvSpPr>
          <p:cNvPr id="167" name="Google Shape;167;p17"/>
          <p:cNvSpPr txBox="1"/>
          <p:nvPr/>
        </p:nvSpPr>
        <p:spPr>
          <a:xfrm>
            <a:off x="9239250" y="3676650"/>
            <a:ext cx="2775346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R. Camilli</a:t>
            </a:r>
            <a:endParaRPr/>
          </a:p>
        </p:txBody>
      </p:sp>
      <p:sp>
        <p:nvSpPr>
          <p:cNvPr id="168" name="Google Shape;168;p17"/>
          <p:cNvSpPr txBox="1"/>
          <p:nvPr/>
        </p:nvSpPr>
        <p:spPr>
          <a:xfrm>
            <a:off x="9239250" y="3990975"/>
            <a:ext cx="22098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Interfaccia frontend HTML e logica backend PHP.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8"/>
          <p:cNvSpPr/>
          <p:nvPr/>
        </p:nvSpPr>
        <p:spPr>
          <a:xfrm>
            <a:off x="609600" y="3400425"/>
            <a:ext cx="2628900" cy="990600"/>
          </a:xfrm>
          <a:prstGeom prst="roundRect">
            <a:avLst>
              <a:gd fmla="val 11538" name="adj"/>
            </a:avLst>
          </a:prstGeom>
          <a:solidFill>
            <a:srgbClr val="F8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18"/>
          <p:cNvSpPr/>
          <p:nvPr/>
        </p:nvSpPr>
        <p:spPr>
          <a:xfrm>
            <a:off x="3390900" y="3400425"/>
            <a:ext cx="2628900" cy="990600"/>
          </a:xfrm>
          <a:prstGeom prst="roundRect">
            <a:avLst>
              <a:gd fmla="val 11538" name="adj"/>
            </a:avLst>
          </a:prstGeom>
          <a:solidFill>
            <a:srgbClr val="F8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18"/>
          <p:cNvSpPr/>
          <p:nvPr/>
        </p:nvSpPr>
        <p:spPr>
          <a:xfrm>
            <a:off x="6172200" y="3400425"/>
            <a:ext cx="2628900" cy="990600"/>
          </a:xfrm>
          <a:prstGeom prst="roundRect">
            <a:avLst>
              <a:gd fmla="val 11538" name="adj"/>
            </a:avLst>
          </a:prstGeom>
          <a:solidFill>
            <a:srgbClr val="F8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18"/>
          <p:cNvSpPr/>
          <p:nvPr/>
        </p:nvSpPr>
        <p:spPr>
          <a:xfrm>
            <a:off x="8953500" y="3400425"/>
            <a:ext cx="2628900" cy="990600"/>
          </a:xfrm>
          <a:prstGeom prst="roundRect">
            <a:avLst>
              <a:gd fmla="val 11538" name="adj"/>
            </a:avLst>
          </a:prstGeom>
          <a:solidFill>
            <a:srgbClr val="F8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18"/>
          <p:cNvSpPr txBox="1"/>
          <p:nvPr/>
        </p:nvSpPr>
        <p:spPr>
          <a:xfrm>
            <a:off x="609600" y="457200"/>
            <a:ext cx="115824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284C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0</a:t>
            </a:r>
            <a:r>
              <a:rPr b="1" lang="en-US" sz="1050">
                <a:solidFill>
                  <a:srgbClr val="0284C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6</a:t>
            </a:r>
            <a:r>
              <a:rPr b="1" i="0" lang="en-US" sz="1050" u="none" cap="none" strike="noStrike">
                <a:solidFill>
                  <a:srgbClr val="0284C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• PIANIFICAZIONE</a:t>
            </a:r>
            <a:endParaRPr/>
          </a:p>
        </p:txBody>
      </p:sp>
      <p:sp>
        <p:nvSpPr>
          <p:cNvPr id="178" name="Google Shape;178;p18"/>
          <p:cNvSpPr txBox="1"/>
          <p:nvPr/>
        </p:nvSpPr>
        <p:spPr>
          <a:xfrm>
            <a:off x="609600" y="704850"/>
            <a:ext cx="115824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Timeline dei Lavori (40 Ore Totali)</a:t>
            </a:r>
            <a:endParaRPr/>
          </a:p>
        </p:txBody>
      </p:sp>
      <p:sp>
        <p:nvSpPr>
          <p:cNvPr id="179" name="Google Shape;179;p18"/>
          <p:cNvSpPr txBox="1"/>
          <p:nvPr/>
        </p:nvSpPr>
        <p:spPr>
          <a:xfrm>
            <a:off x="800100" y="3590925"/>
            <a:ext cx="23431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0284C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FASE 1</a:t>
            </a:r>
            <a:endParaRPr/>
          </a:p>
        </p:txBody>
      </p:sp>
      <p:sp>
        <p:nvSpPr>
          <p:cNvPr id="180" name="Google Shape;180;p18"/>
          <p:cNvSpPr txBox="1"/>
          <p:nvPr/>
        </p:nvSpPr>
        <p:spPr>
          <a:xfrm>
            <a:off x="3581400" y="3590925"/>
            <a:ext cx="23431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0284C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FASE 2</a:t>
            </a:r>
            <a:endParaRPr/>
          </a:p>
        </p:txBody>
      </p:sp>
      <p:sp>
        <p:nvSpPr>
          <p:cNvPr id="181" name="Google Shape;181;p18"/>
          <p:cNvSpPr txBox="1"/>
          <p:nvPr/>
        </p:nvSpPr>
        <p:spPr>
          <a:xfrm>
            <a:off x="6362700" y="3590925"/>
            <a:ext cx="23431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0284C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FASE 3</a:t>
            </a:r>
            <a:endParaRPr/>
          </a:p>
        </p:txBody>
      </p:sp>
      <p:sp>
        <p:nvSpPr>
          <p:cNvPr id="182" name="Google Shape;182;p18"/>
          <p:cNvSpPr txBox="1"/>
          <p:nvPr/>
        </p:nvSpPr>
        <p:spPr>
          <a:xfrm>
            <a:off x="9144000" y="3590925"/>
            <a:ext cx="23431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0284C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FASE 4</a:t>
            </a:r>
            <a:endParaRPr/>
          </a:p>
        </p:txBody>
      </p:sp>
      <p:sp>
        <p:nvSpPr>
          <p:cNvPr id="183" name="Google Shape;183;p18"/>
          <p:cNvSpPr txBox="1"/>
          <p:nvPr/>
        </p:nvSpPr>
        <p:spPr>
          <a:xfrm>
            <a:off x="800100" y="3790950"/>
            <a:ext cx="2950368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Pianificazione</a:t>
            </a:r>
            <a:endParaRPr/>
          </a:p>
        </p:txBody>
      </p:sp>
      <p:sp>
        <p:nvSpPr>
          <p:cNvPr id="184" name="Google Shape;184;p18"/>
          <p:cNvSpPr txBox="1"/>
          <p:nvPr/>
        </p:nvSpPr>
        <p:spPr>
          <a:xfrm>
            <a:off x="800100" y="4048125"/>
            <a:ext cx="2809875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Analisi stack e ruoli team.</a:t>
            </a:r>
            <a:endParaRPr/>
          </a:p>
        </p:txBody>
      </p:sp>
      <p:sp>
        <p:nvSpPr>
          <p:cNvPr id="185" name="Google Shape;185;p18"/>
          <p:cNvSpPr txBox="1"/>
          <p:nvPr/>
        </p:nvSpPr>
        <p:spPr>
          <a:xfrm>
            <a:off x="3581400" y="3790950"/>
            <a:ext cx="2950368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Setup Container</a:t>
            </a:r>
            <a:endParaRPr/>
          </a:p>
        </p:txBody>
      </p:sp>
      <p:sp>
        <p:nvSpPr>
          <p:cNvPr id="186" name="Google Shape;186;p18"/>
          <p:cNvSpPr txBox="1"/>
          <p:nvPr/>
        </p:nvSpPr>
        <p:spPr>
          <a:xfrm>
            <a:off x="3581400" y="4048125"/>
            <a:ext cx="2809875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Setup DB, Nginx e BIND9.</a:t>
            </a:r>
            <a:endParaRPr/>
          </a:p>
        </p:txBody>
      </p:sp>
      <p:sp>
        <p:nvSpPr>
          <p:cNvPr id="187" name="Google Shape;187;p18"/>
          <p:cNvSpPr txBox="1"/>
          <p:nvPr/>
        </p:nvSpPr>
        <p:spPr>
          <a:xfrm>
            <a:off x="6362700" y="3790950"/>
            <a:ext cx="2950368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Troubleshooting</a:t>
            </a:r>
            <a:endParaRPr/>
          </a:p>
        </p:txBody>
      </p:sp>
      <p:sp>
        <p:nvSpPr>
          <p:cNvPr id="188" name="Google Shape;188;p18"/>
          <p:cNvSpPr txBox="1"/>
          <p:nvPr/>
        </p:nvSpPr>
        <p:spPr>
          <a:xfrm>
            <a:off x="6362700" y="4048125"/>
            <a:ext cx="2809875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Testing volumi e networking.</a:t>
            </a:r>
            <a:endParaRPr/>
          </a:p>
        </p:txBody>
      </p:sp>
      <p:sp>
        <p:nvSpPr>
          <p:cNvPr id="189" name="Google Shape;189;p18"/>
          <p:cNvSpPr txBox="1"/>
          <p:nvPr/>
        </p:nvSpPr>
        <p:spPr>
          <a:xfrm>
            <a:off x="9144000" y="3790950"/>
            <a:ext cx="2950368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Deploy &amp; Demo</a:t>
            </a:r>
            <a:endParaRPr/>
          </a:p>
        </p:txBody>
      </p:sp>
      <p:sp>
        <p:nvSpPr>
          <p:cNvPr id="190" name="Google Shape;190;p18"/>
          <p:cNvSpPr txBox="1"/>
          <p:nvPr/>
        </p:nvSpPr>
        <p:spPr>
          <a:xfrm>
            <a:off x="9144000" y="4048125"/>
            <a:ext cx="2809875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Collaudo finale e presentazione.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19"/>
          <p:cNvSpPr/>
          <p:nvPr/>
        </p:nvSpPr>
        <p:spPr>
          <a:xfrm>
            <a:off x="5867400" y="4171950"/>
            <a:ext cx="457200" cy="28575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19"/>
          <p:cNvSpPr txBox="1"/>
          <p:nvPr/>
        </p:nvSpPr>
        <p:spPr>
          <a:xfrm>
            <a:off x="2776835" y="2657475"/>
            <a:ext cx="6638329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Grazie per l'Attenzione</a:t>
            </a:r>
            <a:endParaRPr/>
          </a:p>
        </p:txBody>
      </p:sp>
      <p:sp>
        <p:nvSpPr>
          <p:cNvPr id="197" name="Google Shape;197;p19"/>
          <p:cNvSpPr txBox="1"/>
          <p:nvPr/>
        </p:nvSpPr>
        <p:spPr>
          <a:xfrm>
            <a:off x="2524125" y="3390900"/>
            <a:ext cx="714375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Infrastruttura Web containerizzata pronta al deployment e all'integrazione.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